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73" r:id="rId4"/>
    <p:sldId id="266" r:id="rId5"/>
    <p:sldId id="267" r:id="rId6"/>
    <p:sldId id="257" r:id="rId7"/>
    <p:sldId id="260" r:id="rId8"/>
    <p:sldId id="259" r:id="rId9"/>
    <p:sldId id="261" r:id="rId10"/>
    <p:sldId id="262" r:id="rId11"/>
    <p:sldId id="270" r:id="rId12"/>
    <p:sldId id="268" r:id="rId13"/>
    <p:sldId id="269" r:id="rId14"/>
    <p:sldId id="265" r:id="rId15"/>
    <p:sldId id="264" r:id="rId16"/>
    <p:sldId id="274" r:id="rId17"/>
    <p:sldId id="258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6DC507-0CA6-424D-A494-2E0C091AE53A}">
          <p14:sldIdLst>
            <p14:sldId id="256"/>
            <p14:sldId id="271"/>
            <p14:sldId id="273"/>
            <p14:sldId id="266"/>
            <p14:sldId id="267"/>
            <p14:sldId id="257"/>
            <p14:sldId id="260"/>
            <p14:sldId id="259"/>
            <p14:sldId id="261"/>
            <p14:sldId id="262"/>
            <p14:sldId id="270"/>
          </p14:sldIdLst>
        </p14:section>
        <p14:section name="Appendix" id="{107AE43E-BF32-4F12-8889-EDC490E56C70}">
          <p14:sldIdLst>
            <p14:sldId id="268"/>
            <p14:sldId id="269"/>
            <p14:sldId id="265"/>
            <p14:sldId id="264"/>
            <p14:sldId id="274"/>
            <p14:sldId id="258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2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7857F-C59B-4727-B28B-20FBFDB482E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56152-48DB-4F38-ADF7-CCB1C90D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**private variant**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full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VNet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isolation with 9 subnets, 18 private DNS zones, 4 NSGs, a P2S VPN Gateway (Entra ID auth), and NAT Gateway for controlled outbound traffic.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56152-48DB-4F38-ADF7-CCB1C90D1E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80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 err="1">
                <a:solidFill>
                  <a:srgbClr val="F8F8FC"/>
                </a:solidFill>
                <a:latin typeface="Segoe UI"/>
              </a:rPr>
              <a:t>NExT</a:t>
            </a:r>
            <a:r>
              <a:rPr sz="4400" b="1" i="0" dirty="0">
                <a:solidFill>
                  <a:srgbClr val="F8F8FC"/>
                </a:solidFill>
                <a:latin typeface="Segoe UI"/>
              </a:rPr>
              <a:t> Infrastructure</a:t>
            </a:r>
          </a:p>
          <a:p>
            <a:pPr algn="l"/>
            <a:r>
              <a:rPr lang="en-US" sz="4400" b="1" i="0" dirty="0" err="1">
                <a:solidFill>
                  <a:srgbClr val="F8F8FC"/>
                </a:solidFill>
                <a:latin typeface="Segoe UI"/>
              </a:rPr>
              <a:t>IaC</a:t>
            </a:r>
            <a:r>
              <a:rPr lang="en-US" sz="4400" b="1" i="0" dirty="0">
                <a:solidFill>
                  <a:srgbClr val="F8F8FC"/>
                </a:solidFill>
                <a:latin typeface="Segoe UI"/>
              </a:rPr>
              <a:t> </a:t>
            </a:r>
            <a:r>
              <a:rPr sz="4400" b="1" i="0" dirty="0">
                <a:solidFill>
                  <a:srgbClr val="F8F8FC"/>
                </a:solidFill>
                <a:latin typeface="Segoe UI"/>
              </a:rPr>
              <a:t>Architecture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9CA3AF"/>
                </a:solidFill>
                <a:latin typeface="Segoe UI"/>
              </a:rPr>
              <a:t>Aria</a:t>
            </a:r>
            <a:r>
              <a:rPr sz="2000" b="0" i="0" dirty="0">
                <a:solidFill>
                  <a:srgbClr val="9CA3AF"/>
                </a:solidFill>
                <a:latin typeface="Segoe UI"/>
              </a:rPr>
              <a:t> Team |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23360"/>
            <a:ext cx="27432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80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FEA-DA90-09D9-CAB8-4ED28CF9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40850-5114-82DD-2830-E00A24A49112}"/>
              </a:ext>
            </a:extLst>
          </p:cNvPr>
          <p:cNvSpPr/>
          <p:nvPr/>
        </p:nvSpPr>
        <p:spPr>
          <a:xfrm>
            <a:off x="167792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FC00D-52BB-C5FE-0A24-6C01FA8682FA}"/>
              </a:ext>
            </a:extLst>
          </p:cNvPr>
          <p:cNvSpPr txBox="1"/>
          <p:nvPr/>
        </p:nvSpPr>
        <p:spPr>
          <a:xfrm>
            <a:off x="731520" y="3657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A1A2E"/>
                </a:solidFill>
                <a:latin typeface="Segoe UI"/>
              </a:rPr>
              <a:t>Key Features</a:t>
            </a:r>
            <a:endParaRPr sz="3200" b="1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66A70C-507A-092C-09C7-2B777BF631B9}"/>
              </a:ext>
            </a:extLst>
          </p:cNvPr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Segoe UI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9635F-E021-1818-E342-D740CC4C9BC8}"/>
              </a:ext>
            </a:extLst>
          </p:cNvPr>
          <p:cNvSpPr txBox="1"/>
          <p:nvPr/>
        </p:nvSpPr>
        <p:spPr>
          <a:xfrm>
            <a:off x="1280159" y="1243143"/>
            <a:ext cx="996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latin typeface="Segoe UI"/>
              </a:rPr>
              <a:t>Dual Variant - Single Click end to end Deployment of Infrastructure for Applications </a:t>
            </a:r>
            <a:endParaRPr sz="1600" b="1" i="0" dirty="0"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81299-DC13-D15E-10F2-F099920794A1}"/>
              </a:ext>
            </a:extLst>
          </p:cNvPr>
          <p:cNvSpPr txBox="1"/>
          <p:nvPr/>
        </p:nvSpPr>
        <p:spPr>
          <a:xfrm>
            <a:off x="1371598" y="1583086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latin typeface="Segoe UI"/>
              </a:rPr>
              <a:t>Public Variant : for POCs with no </a:t>
            </a:r>
            <a:r>
              <a:rPr lang="en-US" sz="1400" dirty="0">
                <a:latin typeface="Segoe UI"/>
              </a:rPr>
              <a:t>vNets and with </a:t>
            </a:r>
            <a:r>
              <a:rPr lang="en-US" sz="1400" b="0" i="0" dirty="0">
                <a:latin typeface="Segoe UI"/>
              </a:rPr>
              <a:t>Public Endpoints</a:t>
            </a:r>
          </a:p>
          <a:p>
            <a:r>
              <a:rPr lang="en-US" sz="1400" b="0" i="0" dirty="0">
                <a:latin typeface="Segoe UI"/>
              </a:rPr>
              <a:t>Private Variant: for Production with vNets &amp; Private Endpoints</a:t>
            </a:r>
            <a:endParaRPr sz="1400" b="0" i="0" dirty="0">
              <a:latin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A925A4-4CE4-1E97-638B-457E5A6D82A1}"/>
              </a:ext>
            </a:extLst>
          </p:cNvPr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Segoe UI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48E74-1749-5FD5-258E-F5298CECA457}"/>
              </a:ext>
            </a:extLst>
          </p:cNvPr>
          <p:cNvSpPr txBox="1"/>
          <p:nvPr/>
        </p:nvSpPr>
        <p:spPr>
          <a:xfrm>
            <a:off x="1280159" y="2194560"/>
            <a:ext cx="996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Segoe UI"/>
              </a:rPr>
              <a:t>Use of Azure Verified Modules</a:t>
            </a:r>
            <a:r>
              <a:rPr lang="en-US" sz="1600" b="1" i="0" dirty="0">
                <a:latin typeface="Segoe UI"/>
              </a:rPr>
              <a:t> with the ability to choose resources to be deployed.</a:t>
            </a:r>
            <a:endParaRPr sz="1600" b="1" i="0" dirty="0">
              <a:latin typeface="Segoe U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393A6E-6C4D-161C-9A3A-89249B6D8F6F}"/>
              </a:ext>
            </a:extLst>
          </p:cNvPr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Segoe UI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4640D-F872-4E54-3041-1FED1B788AD3}"/>
              </a:ext>
            </a:extLst>
          </p:cNvPr>
          <p:cNvSpPr txBox="1"/>
          <p:nvPr/>
        </p:nvSpPr>
        <p:spPr>
          <a:xfrm>
            <a:off x="1280159" y="3013241"/>
            <a:ext cx="996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latin typeface="Segoe UI"/>
              </a:rPr>
              <a:t>Precheck for quota availability in the region and for global uniqueness of the resource name</a:t>
            </a:r>
            <a:endParaRPr sz="1600" b="1" i="0" dirty="0">
              <a:latin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86ED5-82AC-DEEC-6C8B-2034A97DE268}"/>
              </a:ext>
            </a:extLst>
          </p:cNvPr>
          <p:cNvSpPr txBox="1"/>
          <p:nvPr/>
        </p:nvSpPr>
        <p:spPr>
          <a:xfrm>
            <a:off x="1280160" y="3333281"/>
            <a:ext cx="9966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latin typeface="Segoe UI"/>
              </a:rPr>
              <a:t>Prechecks for quota availability </a:t>
            </a:r>
            <a:r>
              <a:rPr lang="en-US" sz="1400" dirty="0">
                <a:latin typeface="Segoe UI"/>
              </a:rPr>
              <a:t>of Logic APP WS1, OpenAI-gpt-5, Cosmos </a:t>
            </a:r>
            <a:r>
              <a:rPr lang="en-US" sz="1400" b="0" i="0" dirty="0">
                <a:latin typeface="Segoe UI"/>
              </a:rPr>
              <a:t>DB, PostgreSQL </a:t>
            </a:r>
            <a:endParaRPr sz="1400" b="0" i="0" dirty="0">
              <a:latin typeface="Segoe U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90B463-F7AA-C10C-4798-358EF6172D7F}"/>
              </a:ext>
            </a:extLst>
          </p:cNvPr>
          <p:cNvSpPr/>
          <p:nvPr/>
        </p:nvSpPr>
        <p:spPr>
          <a:xfrm>
            <a:off x="731520" y="3851411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Segoe UI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146C20-9803-E395-04F7-2C779505C4A0}"/>
              </a:ext>
            </a:extLst>
          </p:cNvPr>
          <p:cNvSpPr txBox="1"/>
          <p:nvPr/>
        </p:nvSpPr>
        <p:spPr>
          <a:xfrm>
            <a:off x="1280159" y="5020613"/>
            <a:ext cx="996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latin typeface="Segoe UI"/>
              </a:rPr>
              <a:t>Built is Observability and  Security Best Practices</a:t>
            </a:r>
            <a:endParaRPr sz="1600" b="1" i="0" dirty="0">
              <a:latin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319DC0-B709-6C00-CC7E-FC0FDC43F2FC}"/>
              </a:ext>
            </a:extLst>
          </p:cNvPr>
          <p:cNvSpPr txBox="1"/>
          <p:nvPr/>
        </p:nvSpPr>
        <p:spPr>
          <a:xfrm>
            <a:off x="1280160" y="5340653"/>
            <a:ext cx="9966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/>
              </a:rPr>
              <a:t>Network, Service Deployment, Application Deployment</a:t>
            </a:r>
            <a:endParaRPr sz="1400" b="0" i="0" dirty="0">
              <a:latin typeface="Segoe U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6DED8D-8090-9A08-7A3E-16A62CF759E9}"/>
              </a:ext>
            </a:extLst>
          </p:cNvPr>
          <p:cNvSpPr/>
          <p:nvPr/>
        </p:nvSpPr>
        <p:spPr>
          <a:xfrm>
            <a:off x="731520" y="4979171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Segoe UI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EAF38B-2105-24DF-5835-7C4495C82AAB}"/>
              </a:ext>
            </a:extLst>
          </p:cNvPr>
          <p:cNvSpPr txBox="1"/>
          <p:nvPr/>
        </p:nvSpPr>
        <p:spPr>
          <a:xfrm>
            <a:off x="1280159" y="3910734"/>
            <a:ext cx="996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latin typeface="Segoe UI"/>
              </a:rPr>
              <a:t>Intelligent Deployment Orchestration</a:t>
            </a:r>
            <a:endParaRPr sz="1600" b="1" i="0" dirty="0">
              <a:latin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7600F3-14E5-C00C-8430-F768E9256531}"/>
              </a:ext>
            </a:extLst>
          </p:cNvPr>
          <p:cNvSpPr txBox="1"/>
          <p:nvPr/>
        </p:nvSpPr>
        <p:spPr>
          <a:xfrm>
            <a:off x="1280160" y="4255456"/>
            <a:ext cx="9966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/>
              </a:rPr>
              <a:t>Phased Deployment of Network, Service Deployment, Application Deployment</a:t>
            </a:r>
            <a:endParaRPr sz="1400" b="0" i="0" dirty="0">
              <a:latin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EB7D71-AFEE-449C-C260-293B57C6C012}"/>
              </a:ext>
            </a:extLst>
          </p:cNvPr>
          <p:cNvSpPr txBox="1"/>
          <p:nvPr/>
        </p:nvSpPr>
        <p:spPr>
          <a:xfrm>
            <a:off x="1280158" y="4515987"/>
            <a:ext cx="9966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/>
              </a:rPr>
              <a:t>Parameters for flexible configuration</a:t>
            </a:r>
            <a:endParaRPr sz="1400" b="0" i="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853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84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egoe UI"/>
              </a:rPr>
              <a:t>Dual Variant - Single Click end to end Deployment of Infrastructure for Applications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820234"/>
              </p:ext>
            </p:extLst>
          </p:nvPr>
        </p:nvGraphicFramePr>
        <p:xfrm>
          <a:off x="1552574" y="2019300"/>
          <a:ext cx="9694546" cy="3741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2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2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570"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8F8FC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Private Variant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Public Variant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r>
                        <a:rPr b="1"/>
                        <a:t>Network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VNet + Private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Public </a:t>
                      </a:r>
                      <a:r>
                        <a:rPr lang="en-US" dirty="0"/>
                        <a:t>E</a:t>
                      </a:r>
                      <a:r>
                        <a:rPr dirty="0"/>
                        <a:t>ndpoints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r>
                        <a:rPr b="1"/>
                        <a:t>Monthly Network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~$130 (VPN + NAT)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r>
                        <a:rPr b="1"/>
                        <a:t>Security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Network +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Identity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r>
                        <a:rPr b="1"/>
                        <a:t>Developer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VPN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r>
                        <a:rPr b="1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rgbClr val="0078D4"/>
                          </a:solidFill>
                        </a:rPr>
                        <a:t>Production / </a:t>
                      </a:r>
                      <a:r>
                        <a:rPr lang="en-US" dirty="0">
                          <a:solidFill>
                            <a:srgbClr val="0078D4"/>
                          </a:solidFill>
                        </a:rPr>
                        <a:t>S</a:t>
                      </a:r>
                      <a:r>
                        <a:rPr dirty="0">
                          <a:solidFill>
                            <a:srgbClr val="0078D4"/>
                          </a:solidFill>
                        </a:rPr>
                        <a:t>ensitive </a:t>
                      </a:r>
                      <a:r>
                        <a:rPr lang="en-US" dirty="0">
                          <a:solidFill>
                            <a:srgbClr val="0078D4"/>
                          </a:solidFill>
                        </a:rPr>
                        <a:t>D</a:t>
                      </a:r>
                      <a:r>
                        <a:rPr dirty="0">
                          <a:solidFill>
                            <a:srgbClr val="0078D4"/>
                          </a:solidFill>
                        </a:rPr>
                        <a:t>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rgbClr val="10B981"/>
                          </a:solidFill>
                        </a:rPr>
                        <a:t>PoC / </a:t>
                      </a:r>
                      <a:r>
                        <a:rPr lang="en-US" dirty="0">
                          <a:solidFill>
                            <a:srgbClr val="10B981"/>
                          </a:solidFill>
                        </a:rPr>
                        <a:t>D</a:t>
                      </a:r>
                      <a:r>
                        <a:rPr dirty="0">
                          <a:solidFill>
                            <a:srgbClr val="10B981"/>
                          </a:solidFill>
                        </a:rPr>
                        <a:t>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Both variants use identical Bicep modules - only networking layer differs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Developer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7548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Access &amp;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P2S VPN with Entra ID (no certificates)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DNS Private Resolver for private FQDN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Azure VPN Client (Windows/macOS)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256032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4754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Development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VS Code Dev Container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GitHub Codespaces for public 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Docker Compose for local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5156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4389120"/>
            <a:ext cx="10241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149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Deployment Simplicity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Single deploy.sh command for full infrastructure provisioning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Phase-based deployment: network -&gt; services -&gt; apps -&gt;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Idempotent - safe to re-run at any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A1A2E"/>
                </a:solidFill>
                <a:latin typeface="Segoe UI"/>
              </a:rPr>
              <a:t>Architecture Pillars</a:t>
            </a:r>
            <a:r>
              <a:rPr lang="en-US" sz="3200" b="1" i="0" dirty="0">
                <a:solidFill>
                  <a:srgbClr val="1A1A2E"/>
                </a:solidFill>
                <a:latin typeface="Segoe UI"/>
              </a:rPr>
              <a:t> –Private Variant</a:t>
            </a:r>
            <a:endParaRPr sz="3200" b="1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19456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47548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Zero-Secret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• User Assigned Managed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• OIDC federation for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No stored credentials anywhere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029200" cy="219456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554480"/>
            <a:ext cx="4754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Defense-in-Depth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Private Endpoints for all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NSGs with deny-all-other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VPN with Entra ID authentication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029200" cy="219456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4114800"/>
            <a:ext cx="4754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Cost-Optimized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NAT Gateway over Azure Firewall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" y="4983480"/>
            <a:ext cx="50596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• GHCR over ACR Premium</a:t>
            </a: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for container image deployment</a:t>
            </a:r>
            <a:endParaRPr sz="14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36869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• GitHub-hosted runners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029200" cy="219456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4114800"/>
            <a:ext cx="4754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Automated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Single deploy.sh command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83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22+ Azure Verified 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CI/CD with OIDC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Security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01168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7548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Network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Private Endpoints (10+ services)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NSGs with deny-all-other (5 NSGs)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DNS Private Resolver for VPN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201168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4754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Identity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User Assigned Managed Identity (zero secrets)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OIDC federation for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P2S VPN with Entra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515600" cy="237744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3840479"/>
            <a:ext cx="10241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0149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Defense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Layer 1: VNet boundary - all resources in private subnets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59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Layer 2: NSG rules - explicit allow per subnet pair, deny-all-other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Layer 3: Private Endpoints - no public IP exposure for data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Layer 4: Managed Identity - no secrets stored, no rotation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79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Layer 5: Entra ID - VPN and CI/CD authentication via federation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Network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VNet: 10.0.0.0/16 | NAT Gateway | VPN Gateway | DNS Private Resolver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Subnet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CIDR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GatewaySubnet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10.0.0.0/27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VPN Gateway (P2S with Entra 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snet-functions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10.0.1.0/24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Logic App Standard VNet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snet-container-apps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10.0.2.0/23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Container App managed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snet-private-endpoints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10.0.4.0/24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Private Endpoints (10+ services)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snet-data-postgres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10.0.5.0/24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PostgreSQL delegated subnet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snet-reserved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10.0.6.0/24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Future expansion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snet-dns-resolver-inbound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10.0.7.0/28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DNS Private Resolver inbound endpoint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Container App Deployment Flow</a:t>
            </a:r>
          </a:p>
        </p:txBody>
      </p:sp>
      <p:sp>
        <p:nvSpPr>
          <p:cNvPr id="4" name="Chevron 3"/>
          <p:cNvSpPr/>
          <p:nvPr/>
        </p:nvSpPr>
        <p:spPr>
          <a:xfrm>
            <a:off x="731520" y="1828800"/>
            <a:ext cx="1828799" cy="1828800"/>
          </a:xfrm>
          <a:prstGeom prst="chevron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Segoe UI"/>
              </a:rPr>
              <a:t>git push</a:t>
            </a:r>
          </a:p>
        </p:txBody>
      </p:sp>
      <p:sp>
        <p:nvSpPr>
          <p:cNvPr id="5" name="Chevron 4"/>
          <p:cNvSpPr/>
          <p:nvPr/>
        </p:nvSpPr>
        <p:spPr>
          <a:xfrm>
            <a:off x="2834639" y="1828800"/>
            <a:ext cx="1828799" cy="1828800"/>
          </a:xfrm>
          <a:prstGeom prst="chevron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Segoe UI"/>
              </a:rPr>
              <a:t>GitHub Actions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4937759" y="1828800"/>
            <a:ext cx="1828799" cy="182880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Segoe UI"/>
              </a:rPr>
              <a:t>Docker Build</a:t>
            </a:r>
          </a:p>
        </p:txBody>
      </p:sp>
      <p:sp>
        <p:nvSpPr>
          <p:cNvPr id="7" name="Chevron 6"/>
          <p:cNvSpPr/>
          <p:nvPr/>
        </p:nvSpPr>
        <p:spPr>
          <a:xfrm>
            <a:off x="7040879" y="1828800"/>
            <a:ext cx="1828799" cy="18288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Segoe UI"/>
              </a:rPr>
              <a:t>GHCR Push</a:t>
            </a:r>
          </a:p>
        </p:txBody>
      </p:sp>
      <p:sp>
        <p:nvSpPr>
          <p:cNvPr id="8" name="Chevron 7"/>
          <p:cNvSpPr/>
          <p:nvPr/>
        </p:nvSpPr>
        <p:spPr>
          <a:xfrm>
            <a:off x="9144000" y="1828800"/>
            <a:ext cx="1828799" cy="182880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Segoe UI"/>
              </a:rPr>
              <a:t>az containerapp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515600" cy="201168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4206240"/>
            <a:ext cx="102412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149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/>
                </a:solidFill>
                <a:latin typeface="Segoe UI"/>
              </a:rPr>
              <a:t>Key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Runner: GitHub-hosted (ubuntu-latest)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Authentication: OIDC federation (no stored secrets)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Registry: GitHub Container Registry (GHCR)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No VNet access needed - az CLI updates via ARM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Deployment </a:t>
            </a:r>
            <a:r>
              <a:rPr lang="en-US" sz="3200" b="1" i="0">
                <a:solidFill>
                  <a:srgbClr val="1A1A2E"/>
                </a:solidFill>
                <a:latin typeface="Segoe UI"/>
              </a:rPr>
              <a:t>Pipelines</a:t>
            </a:r>
            <a:endParaRPr sz="3200" b="1" i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20" name="Row1 Label"/>
          <p:cNvSpPr txBox="1"/>
          <p:nvPr/>
        </p:nvSpPr>
        <p:spPr>
          <a:xfrm>
            <a:off x="731520" y="118872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8D4"/>
                </a:solidFill>
                <a:latin typeface="Segoe UI"/>
              </a:rPr>
              <a:t>Container App — CI/CD Pipeline (GitHub Actions)</a:t>
            </a:r>
          </a:p>
        </p:txBody>
      </p:sp>
      <p:sp>
        <p:nvSpPr>
          <p:cNvPr id="21" name="R1 Chevron 1"/>
          <p:cNvSpPr/>
          <p:nvPr/>
        </p:nvSpPr>
        <p:spPr>
          <a:xfrm>
            <a:off x="731520" y="152400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git push</a:t>
            </a:r>
          </a:p>
        </p:txBody>
      </p:sp>
      <p:sp>
        <p:nvSpPr>
          <p:cNvPr id="22" name="R1 Chevron 2"/>
          <p:cNvSpPr/>
          <p:nvPr/>
        </p:nvSpPr>
        <p:spPr>
          <a:xfrm>
            <a:off x="2834639" y="152400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GitHub Actions</a:t>
            </a:r>
          </a:p>
        </p:txBody>
      </p:sp>
      <p:sp>
        <p:nvSpPr>
          <p:cNvPr id="23" name="R1 Chevron 3"/>
          <p:cNvSpPr/>
          <p:nvPr/>
        </p:nvSpPr>
        <p:spPr>
          <a:xfrm>
            <a:off x="4937759" y="152400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Docker Build</a:t>
            </a:r>
          </a:p>
        </p:txBody>
      </p:sp>
      <p:sp>
        <p:nvSpPr>
          <p:cNvPr id="24" name="R1 Chevron 4"/>
          <p:cNvSpPr/>
          <p:nvPr/>
        </p:nvSpPr>
        <p:spPr>
          <a:xfrm>
            <a:off x="7040879" y="152400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GHCR Push</a:t>
            </a:r>
          </a:p>
        </p:txBody>
      </p:sp>
      <p:sp>
        <p:nvSpPr>
          <p:cNvPr id="25" name="R1 Chevron 5"/>
          <p:cNvSpPr/>
          <p:nvPr/>
        </p:nvSpPr>
        <p:spPr>
          <a:xfrm>
            <a:off x="9144000" y="152400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chemeClr val="bg1"/>
                </a:solidFill>
                <a:latin typeface="Segoe UI"/>
              </a:rPr>
              <a:t>az</a:t>
            </a:r>
            <a:br>
              <a:rPr sz="1000" b="1">
                <a:solidFill>
                  <a:schemeClr val="bg1"/>
                </a:solidFill>
                <a:latin typeface="Segoe UI"/>
              </a:rPr>
            </a:br>
            <a:r>
              <a:rPr sz="1000" b="1">
                <a:solidFill>
                  <a:schemeClr val="bg1"/>
                </a:solidFill>
                <a:latin typeface="Segoe UI"/>
              </a:rPr>
              <a:t>containerapp</a:t>
            </a:r>
            <a:br>
              <a:rPr sz="1000" b="1">
                <a:solidFill>
                  <a:schemeClr val="bg1"/>
                </a:solidFill>
                <a:latin typeface="Segoe UI"/>
              </a:rPr>
            </a:br>
            <a:r>
              <a:rPr sz="1000" b="1">
                <a:solidFill>
                  <a:schemeClr val="bg1"/>
                </a:solidFill>
                <a:latin typeface="Segoe UI"/>
              </a:rPr>
              <a:t>update</a:t>
            </a:r>
          </a:p>
        </p:txBody>
      </p:sp>
      <p:sp>
        <p:nvSpPr>
          <p:cNvPr id="26" name="Row1 Caption"/>
          <p:cNvSpPr txBox="1"/>
          <p:nvPr/>
        </p:nvSpPr>
        <p:spPr>
          <a:xfrm>
            <a:off x="731520" y="29718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Segoe UI"/>
              </a:rPr>
              <a:t>GitHub-hosted runner builds and pushes the image, then updates the Container App via ARM — OIDC federation, no stored secrets.</a:t>
            </a:r>
          </a:p>
        </p:txBody>
      </p:sp>
      <p:sp>
        <p:nvSpPr>
          <p:cNvPr id="30" name="Row2 Label"/>
          <p:cNvSpPr txBox="1"/>
          <p:nvPr/>
        </p:nvSpPr>
        <p:spPr>
          <a:xfrm>
            <a:off x="731520" y="35204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Segoe UI"/>
              </a:rPr>
              <a:t>Logic App — Deployment Center (no GitHub Actions)</a:t>
            </a:r>
          </a:p>
        </p:txBody>
      </p:sp>
      <p:sp>
        <p:nvSpPr>
          <p:cNvPr id="31" name="R2 Chevron 1"/>
          <p:cNvSpPr/>
          <p:nvPr/>
        </p:nvSpPr>
        <p:spPr>
          <a:xfrm>
            <a:off x="731520" y="385572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git push</a:t>
            </a:r>
          </a:p>
        </p:txBody>
      </p:sp>
      <p:sp>
        <p:nvSpPr>
          <p:cNvPr id="32" name="R2 Chevron 2"/>
          <p:cNvSpPr/>
          <p:nvPr/>
        </p:nvSpPr>
        <p:spPr>
          <a:xfrm>
            <a:off x="2834639" y="385572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Sync Trigger</a:t>
            </a:r>
          </a:p>
        </p:txBody>
      </p:sp>
      <p:sp>
        <p:nvSpPr>
          <p:cNvPr id="33" name="R2 Chevron 3"/>
          <p:cNvSpPr/>
          <p:nvPr/>
        </p:nvSpPr>
        <p:spPr>
          <a:xfrm>
            <a:off x="4937759" y="385572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Kudu Git Pull</a:t>
            </a:r>
          </a:p>
        </p:txBody>
      </p:sp>
      <p:sp>
        <p:nvSpPr>
          <p:cNvPr id="34" name="R2 Chevron 4"/>
          <p:cNvSpPr/>
          <p:nvPr/>
        </p:nvSpPr>
        <p:spPr>
          <a:xfrm>
            <a:off x="7040879" y="385572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Segoe UI"/>
              </a:rPr>
              <a:t>NAT Gateway</a:t>
            </a:r>
            <a:br>
              <a:rPr sz="1400" b="1">
                <a:solidFill>
                  <a:schemeClr val="bg1"/>
                </a:solidFill>
                <a:latin typeface="Segoe UI"/>
              </a:rPr>
            </a:br>
            <a:r>
              <a:rPr sz="1400" b="1">
                <a:solidFill>
                  <a:schemeClr val="bg1"/>
                </a:solidFill>
                <a:latin typeface="Segoe UI"/>
              </a:rPr>
              <a:t>→ GitHub</a:t>
            </a:r>
          </a:p>
        </p:txBody>
      </p:sp>
      <p:sp>
        <p:nvSpPr>
          <p:cNvPr id="35" name="R2 Chevron 5"/>
          <p:cNvSpPr/>
          <p:nvPr/>
        </p:nvSpPr>
        <p:spPr>
          <a:xfrm>
            <a:off x="9144000" y="3855720"/>
            <a:ext cx="1828799" cy="1400000"/>
          </a:xfrm>
          <a:prstGeom prst="chevron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Segoe UI"/>
              </a:rPr>
              <a:t>.deployment</a:t>
            </a:r>
            <a:br>
              <a:rPr sz="1200" b="1">
                <a:solidFill>
                  <a:schemeClr val="bg1"/>
                </a:solidFill>
                <a:latin typeface="Segoe UI"/>
              </a:rPr>
            </a:br>
            <a:r>
              <a:rPr sz="1200" b="1">
                <a:solidFill>
                  <a:schemeClr val="bg1"/>
                </a:solidFill>
                <a:latin typeface="Segoe UI"/>
              </a:rPr>
              <a:t>→ wwwroot</a:t>
            </a:r>
          </a:p>
        </p:txBody>
      </p:sp>
      <p:sp>
        <p:nvSpPr>
          <p:cNvPr id="36" name="Row2 Caption"/>
          <p:cNvSpPr txBox="1"/>
          <p:nvPr/>
        </p:nvSpPr>
        <p:spPr>
          <a:xfrm>
            <a:off x="731520" y="530352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Segoe UI"/>
              </a:rPr>
              <a:t>No external runner — NAT Gateway provides outbound to GitHub; Kudu pulls and builds to wwwroot via a custom .deployment path 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754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Short-Term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Complete Function App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Add Azure Firewall if FQDN filtering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Update .drawio architecture diagrams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27432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47548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Mid-Term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Implement disaster recovery (multi-region)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Add automated integration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Self-hosted runner for VNet-internal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515600" cy="164592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4572000"/>
            <a:ext cx="10241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149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bg1"/>
                </a:solidFill>
                <a:latin typeface="Segoe UI"/>
              </a:rPr>
              <a:t>Future Considerations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Migrate to GitHub-hosted runners with VNet gateway (when GA)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Evaluate Azure Container Apps Jobs for batch workloads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Add Terraform alternative for teams preferring HCL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Deployment 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2145"/>
            <a:ext cx="10515600" cy="2156691"/>
          </a:xfrm>
          <a:prstGeom prst="roundRect">
            <a:avLst>
              <a:gd name="adj" fmla="val 12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232592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8F8FC"/>
                </a:solidFill>
                <a:latin typeface="Cascadia Code"/>
              </a:rPr>
              <a:t>bash src/infra_deployment/deploy.sh \</a:t>
            </a:r>
          </a:p>
          <a:p>
            <a:pPr algn="l"/>
            <a:r>
              <a:rPr sz="1600" b="0" i="0" dirty="0">
                <a:solidFill>
                  <a:srgbClr val="F8F8FC"/>
                </a:solidFill>
                <a:latin typeface="Cascadia Code"/>
              </a:rPr>
              <a:t>  --variant private \</a:t>
            </a:r>
          </a:p>
          <a:p>
            <a:pPr algn="l"/>
            <a:r>
              <a:rPr sz="1600" b="0" i="0" dirty="0">
                <a:solidFill>
                  <a:srgbClr val="F8F8FC"/>
                </a:solidFill>
                <a:latin typeface="Cascadia Code"/>
              </a:rPr>
              <a:t>  --resource-group "</a:t>
            </a:r>
            <a:r>
              <a:rPr sz="1600" b="0" i="0" dirty="0" err="1">
                <a:solidFill>
                  <a:srgbClr val="F8F8FC"/>
                </a:solidFill>
                <a:latin typeface="Cascadia Code"/>
              </a:rPr>
              <a:t>NExT</a:t>
            </a:r>
            <a:r>
              <a:rPr sz="1600" b="0" i="0" dirty="0">
                <a:solidFill>
                  <a:srgbClr val="F8F8FC"/>
                </a:solidFill>
                <a:latin typeface="Cascadia Code"/>
              </a:rPr>
              <a:t>-Private" \</a:t>
            </a:r>
          </a:p>
          <a:p>
            <a:pPr algn="l"/>
            <a:r>
              <a:rPr sz="1600" b="0" i="0" dirty="0">
                <a:solidFill>
                  <a:srgbClr val="F8F8FC"/>
                </a:solidFill>
                <a:latin typeface="Cascadia Code"/>
              </a:rPr>
              <a:t>  --base-name next \</a:t>
            </a:r>
          </a:p>
          <a:p>
            <a:pPr algn="l"/>
            <a:r>
              <a:rPr sz="1600" b="0" i="0" dirty="0">
                <a:solidFill>
                  <a:srgbClr val="F8F8FC"/>
                </a:solidFill>
                <a:latin typeface="Cascadia Code"/>
              </a:rPr>
              <a:t>  --location westus3 \</a:t>
            </a:r>
          </a:p>
          <a:p>
            <a:pPr algn="l"/>
            <a:r>
              <a:rPr sz="1600" b="0" i="0" dirty="0">
                <a:solidFill>
                  <a:srgbClr val="F8F8FC"/>
                </a:solidFill>
                <a:latin typeface="Cascadia Code"/>
              </a:rPr>
              <a:t>  --</a:t>
            </a:r>
            <a:r>
              <a:rPr sz="1600" b="0" i="0" dirty="0" err="1">
                <a:solidFill>
                  <a:srgbClr val="F8F8FC"/>
                </a:solidFill>
                <a:latin typeface="Cascadia Code"/>
              </a:rPr>
              <a:t>github</a:t>
            </a:r>
            <a:r>
              <a:rPr sz="1600" b="0" i="0" dirty="0">
                <a:solidFill>
                  <a:srgbClr val="F8F8FC"/>
                </a:solidFill>
                <a:latin typeface="Cascadia Code"/>
              </a:rPr>
              <a:t>-repo "owner/</a:t>
            </a:r>
            <a:r>
              <a:rPr sz="1600" b="0" i="0" dirty="0" err="1">
                <a:solidFill>
                  <a:srgbClr val="F8F8FC"/>
                </a:solidFill>
                <a:latin typeface="Cascadia Code"/>
              </a:rPr>
              <a:t>Infra_AI_Platform</a:t>
            </a:r>
            <a:r>
              <a:rPr sz="1600" b="0" i="0" dirty="0">
                <a:solidFill>
                  <a:srgbClr val="F8F8FC"/>
                </a:solidFill>
                <a:latin typeface="Cascadia Code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41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  <a:latin typeface="Segoe UI"/>
              </a:rPr>
              <a:t>Parameters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0159"/>
              </p:ext>
            </p:extLst>
          </p:nvPr>
        </p:nvGraphicFramePr>
        <p:xfrm>
          <a:off x="731520" y="3795221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8F8FC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r>
                        <a:rPr>
                          <a:latin typeface="Cascadia Code"/>
                        </a:rPr>
                        <a:t>--variant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private | 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r>
                        <a:rPr>
                          <a:latin typeface="Cascadia Code"/>
                        </a:rPr>
                        <a:t>--phase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Optional: network, services, apps, config (default: all)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r>
                        <a:rPr>
                          <a:latin typeface="Cascadia Code"/>
                        </a:rPr>
                        <a:t>--resource-group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 Azure resource group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r>
                        <a:rPr>
                          <a:latin typeface="Cascadia Code"/>
                        </a:rPr>
                        <a:t>--base-name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Prefix for all resource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r>
                        <a:rPr>
                          <a:latin typeface="Cascadia Code"/>
                        </a:rPr>
                        <a:t>--location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region (e.g., westus3)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10">
                <a:tc>
                  <a:txBody>
                    <a:bodyPr/>
                    <a:lstStyle/>
                    <a:p>
                      <a:r>
                        <a:rPr>
                          <a:latin typeface="Cascadia Code"/>
                        </a:rPr>
                        <a:t>--github-repo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GitHub repo for OIDC federation (owner/repo)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Azure Verified Modules (22+)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Modules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78D4"/>
                          </a:solidFill>
                        </a:rP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virtual-network, nat-gateway, private-dns-zone, network-security-group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0B981"/>
                          </a:solidFill>
                        </a:rP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container-app, managed-environment, web/site, web/serverfarm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8B5CF6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cosmos-db, postgresql-flexible-server, storage-account, service-bus-namespace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EC4899"/>
                          </a:solidFill>
                        </a:rP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cognitive-services (OpenAI, Document Intelligence, Content Safety)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59E0B"/>
                          </a:solidFill>
                        </a:rP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key-vault, managed-identity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6B728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operational-insights/workspace, insights/component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Cost Profile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Monthly Savings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GHCR vs ACR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0B981"/>
                          </a:solidFill>
                        </a:rPr>
                        <a:t>$5-50/month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NAT Gateway vs Azure Firewall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0B981"/>
                          </a:solidFill>
                        </a:rPr>
                        <a:t>$880/month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GitHub-hosted vs Self-hosted runners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0B981"/>
                          </a:solidFill>
                        </a:rPr>
                        <a:t>$70-150/month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b="1"/>
                        <a:t>Total Estimated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0B981"/>
                          </a:solidFill>
                        </a:rPr>
                        <a:t>~$1,000-1,100/month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937760"/>
            <a:ext cx="10515600" cy="128016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5029200"/>
            <a:ext cx="10241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149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/>
                </a:solidFill>
                <a:latin typeface="Segoe UI"/>
              </a:rPr>
              <a:t>Compared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Enterprise alternatives: ACR Premium + Azure Firewall + Self-hosted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/>
                </a:solidFill>
                <a:latin typeface="Segoe UI"/>
              </a:rPr>
              <a:t>• Savings achieved without sacrificing security posture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Segoe UI"/>
              </a:rPr>
              <a:t>NAT Gateway vs Azure Firewall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Criteria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NAT Gateway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Firewall Standard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8F8FC"/>
                          </a:solidFill>
                        </a:rPr>
                        <a:t>Firewall Basic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b="1"/>
                        <a:t>Monthly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0B981"/>
                          </a:solidFill>
                        </a:rPr>
                        <a:t>$32/mo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EF4444"/>
                          </a:solidFill>
                        </a:rPr>
                        <a:t>$912/mo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59E0B"/>
                          </a:solidFill>
                        </a:rPr>
                        <a:t>$252/mo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b="1"/>
                        <a:t>FQDN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(NSGs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b="1"/>
                        <a:t>TLS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b="1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0B98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EF4444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59E0B"/>
                          </a:solidFill>
                        </a:rP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b="1"/>
                        <a:t>Use Case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0B981"/>
                          </a:solidFill>
                        </a:rPr>
                        <a:t>PoC / 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/ Regulated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Mid-tier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2000" y="5150380"/>
            <a:ext cx="10515600" cy="109728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5102352"/>
            <a:ext cx="10241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149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/>
                </a:solidFill>
                <a:latin typeface="Segoe UI"/>
              </a:rP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2749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/>
                </a:solidFill>
                <a:latin typeface="Segoe UI"/>
              </a:rPr>
              <a:t>• NAT Gateway selected - 96.5% cost savings vs Firewall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276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/>
                </a:solidFill>
                <a:latin typeface="Segoe UI"/>
              </a:rPr>
              <a:t>• NSGs provide adequate boundary control for this workload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3C9F2-9B1E-0C41-B2D8-0BF7A0AFE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818693"/>
            <a:ext cx="982164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89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8938" y="366201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latin typeface="Segoe UI"/>
              </a:rP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29260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Email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Logic App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Email polling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004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26280" y="1554480"/>
            <a:ext cx="2926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Agent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Container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LangGraph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2004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83880" y="1554480"/>
            <a:ext cx="2926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Service Bus namespace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Queue-based decoupling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32004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8680" y="3749039"/>
            <a:ext cx="2926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State &amp;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Storage Account (state)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PostgreSQL Flexible 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57600"/>
            <a:ext cx="32004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26280" y="3749039"/>
            <a:ext cx="29260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AI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Azure OpenAI (GPT-4o)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Document Intelligence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657600"/>
            <a:ext cx="3200400" cy="1828800"/>
          </a:xfrm>
          <a:prstGeom prst="round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83880" y="3749039"/>
            <a:ext cx="2926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0" y="384048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bg1">
                    <a:lumMod val="95000"/>
                  </a:schemeClr>
                </a:solidFill>
                <a:latin typeface="Segoe UI"/>
              </a:rPr>
              <a:t>Safety &amp;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Content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• Application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All services connected via Private Endpoints in a single VNet (10.0.0.0/16)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FEDC58-E8AA-2F1B-759F-8C7F0DA35EE7}"/>
              </a:ext>
            </a:extLst>
          </p:cNvPr>
          <p:cNvSpPr txBox="1"/>
          <p:nvPr/>
        </p:nvSpPr>
        <p:spPr>
          <a:xfrm>
            <a:off x="3048000" y="476803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NetworkingVNet</a:t>
            </a:r>
            <a:r>
              <a:rPr lang="en-US" dirty="0"/>
              <a:t> (next-</a:t>
            </a:r>
            <a:r>
              <a:rPr lang="en-US" dirty="0" err="1"/>
              <a:t>vnet</a:t>
            </a:r>
            <a:r>
              <a:rPr lang="en-US" dirty="0"/>
              <a:t>) — 10.0.0.0/16, 9 </a:t>
            </a:r>
            <a:r>
              <a:rPr lang="en-US" dirty="0" err="1"/>
              <a:t>subnetsVPN</a:t>
            </a:r>
            <a:r>
              <a:rPr lang="en-US" dirty="0"/>
              <a:t> Gateway (next-</a:t>
            </a:r>
            <a:r>
              <a:rPr lang="en-US" dirty="0" err="1"/>
              <a:t>vpn</a:t>
            </a:r>
            <a:r>
              <a:rPr lang="en-US" dirty="0"/>
              <a:t>-</a:t>
            </a:r>
            <a:r>
              <a:rPr lang="en-US" dirty="0" err="1"/>
              <a:t>gw</a:t>
            </a:r>
            <a:r>
              <a:rPr lang="en-US" dirty="0"/>
              <a:t>) — VpnGw1AZ, OpenVPN/TCP, Entra ID </a:t>
            </a:r>
            <a:r>
              <a:rPr lang="en-US" dirty="0" err="1"/>
              <a:t>onlyDNS</a:t>
            </a:r>
            <a:r>
              <a:rPr lang="en-US" dirty="0"/>
              <a:t> Private Resolver (next-</a:t>
            </a:r>
            <a:r>
              <a:rPr lang="en-US" dirty="0" err="1"/>
              <a:t>dns</a:t>
            </a:r>
            <a:r>
              <a:rPr lang="en-US" dirty="0"/>
              <a:t>-resolver) — Inbound endpoint 10.0.9.4Public IP (next-</a:t>
            </a:r>
            <a:r>
              <a:rPr lang="en-US" dirty="0" err="1"/>
              <a:t>vpn</a:t>
            </a:r>
            <a:r>
              <a:rPr lang="en-US" dirty="0"/>
              <a:t>-pip) — Standard, Static, Zone-</a:t>
            </a:r>
            <a:r>
              <a:rPr lang="en-US" dirty="0" err="1"/>
              <a:t>redundantNSGs</a:t>
            </a:r>
            <a:r>
              <a:rPr lang="en-US" dirty="0"/>
              <a:t> (4) — Per-subnet </a:t>
            </a:r>
            <a:r>
              <a:rPr lang="en-US" dirty="0" err="1"/>
              <a:t>rulesPrivate</a:t>
            </a:r>
            <a:r>
              <a:rPr lang="en-US" dirty="0"/>
              <a:t> DNS Zones (18) — </a:t>
            </a:r>
            <a:r>
              <a:rPr lang="en-US" dirty="0" err="1"/>
              <a:t>VNet-linkedIdentity</a:t>
            </a:r>
            <a:r>
              <a:rPr lang="en-US" dirty="0"/>
              <a:t> &amp; </a:t>
            </a:r>
            <a:r>
              <a:rPr lang="en-US" dirty="0" err="1"/>
              <a:t>SecurityManaged</a:t>
            </a:r>
            <a:r>
              <a:rPr lang="en-US" dirty="0"/>
              <a:t> Identity (next-identity) — User </a:t>
            </a:r>
            <a:r>
              <a:rPr lang="en-US" dirty="0" err="1"/>
              <a:t>AssignedKey</a:t>
            </a:r>
            <a:r>
              <a:rPr lang="en-US" dirty="0"/>
              <a:t> Vault (next-</a:t>
            </a:r>
            <a:r>
              <a:rPr lang="en-US" dirty="0" err="1"/>
              <a:t>kv</a:t>
            </a:r>
            <a:r>
              <a:rPr lang="en-US" dirty="0"/>
              <a:t>) — Standard, RBAC </a:t>
            </a:r>
            <a:r>
              <a:rPr lang="en-US" dirty="0" err="1"/>
              <a:t>modeComputeFunction</a:t>
            </a:r>
            <a:r>
              <a:rPr lang="en-US" dirty="0"/>
              <a:t> App (next-</a:t>
            </a:r>
            <a:r>
              <a:rPr lang="en-US" dirty="0" err="1"/>
              <a:t>func</a:t>
            </a:r>
            <a:r>
              <a:rPr lang="en-US" dirty="0"/>
              <a:t>) — B1, Linux, Python 3.11Logic App (next-logic) — WS1, Linux, </a:t>
            </a:r>
            <a:r>
              <a:rPr lang="en-US" dirty="0" err="1"/>
              <a:t>Node.jsContainer</a:t>
            </a:r>
            <a:r>
              <a:rPr lang="en-US" dirty="0"/>
              <a:t> Apps (next-ca-env) — Internal-only </a:t>
            </a:r>
            <a:r>
              <a:rPr lang="en-US" dirty="0" err="1"/>
              <a:t>environmentMessagingService</a:t>
            </a:r>
            <a:r>
              <a:rPr lang="en-US" dirty="0"/>
              <a:t> Bus (next-</a:t>
            </a:r>
            <a:r>
              <a:rPr lang="en-US" dirty="0" err="1"/>
              <a:t>servicebus</a:t>
            </a:r>
            <a:r>
              <a:rPr lang="en-US" dirty="0"/>
              <a:t>) — Premium, Capacity 1StorageStorage Account (</a:t>
            </a:r>
            <a:r>
              <a:rPr lang="en-US" dirty="0" err="1"/>
              <a:t>nextst</a:t>
            </a:r>
            <a:r>
              <a:rPr lang="en-US" dirty="0"/>
              <a:t>) — Standard LRS, Blob + Queue </a:t>
            </a:r>
            <a:r>
              <a:rPr lang="en-US" dirty="0" err="1"/>
              <a:t>PEsDataCosmos</a:t>
            </a:r>
            <a:r>
              <a:rPr lang="en-US" dirty="0"/>
              <a:t> DB (next-cosmos) — NoSQL, </a:t>
            </a:r>
            <a:r>
              <a:rPr lang="en-US" dirty="0" err="1"/>
              <a:t>ServerlessPostgreSQL</a:t>
            </a:r>
            <a:r>
              <a:rPr lang="en-US" dirty="0"/>
              <a:t> Flex — Burstable B1ms (conditional)AI </a:t>
            </a:r>
            <a:r>
              <a:rPr lang="en-US" dirty="0" err="1"/>
              <a:t>ServicesAzure</a:t>
            </a:r>
            <a:r>
              <a:rPr lang="en-US" dirty="0"/>
              <a:t> OpenAI (next-</a:t>
            </a:r>
            <a:r>
              <a:rPr lang="en-US" dirty="0" err="1"/>
              <a:t>oai</a:t>
            </a:r>
            <a:r>
              <a:rPr lang="en-US" dirty="0"/>
              <a:t>) — S0 (conditional)Document Intelligence (next-di) — S0AI Foundry — Hub + Project (conditional)Content Safety (next-</a:t>
            </a:r>
            <a:r>
              <a:rPr lang="en-US" dirty="0" err="1"/>
              <a:t>csafety</a:t>
            </a:r>
            <a:r>
              <a:rPr lang="en-US" dirty="0"/>
              <a:t>) — S0 (conditional)</a:t>
            </a:r>
            <a:r>
              <a:rPr lang="en-US" dirty="0" err="1"/>
              <a:t>ObservabilityLog</a:t>
            </a:r>
            <a:r>
              <a:rPr lang="en-US" dirty="0"/>
              <a:t> Analytics Workspace (next-law) — PerGB2018Application Insights (next-</a:t>
            </a:r>
            <a:r>
              <a:rPr lang="en-US" dirty="0" err="1"/>
              <a:t>appinsights</a:t>
            </a:r>
            <a:r>
              <a:rPr lang="en-US" dirty="0"/>
              <a:t>) — Workspace-</a:t>
            </a:r>
            <a:r>
              <a:rPr lang="en-US" dirty="0" err="1"/>
              <a:t>basedContainer</a:t>
            </a:r>
            <a:r>
              <a:rPr lang="en-US" dirty="0"/>
              <a:t> </a:t>
            </a:r>
            <a:r>
              <a:rPr lang="en-US" dirty="0" err="1"/>
              <a:t>RegistryAzure</a:t>
            </a:r>
            <a:r>
              <a:rPr lang="en-US" dirty="0"/>
              <a:t> Container Registry (</a:t>
            </a:r>
            <a:r>
              <a:rPr lang="en-US" dirty="0" err="1"/>
              <a:t>nextacr</a:t>
            </a:r>
            <a:r>
              <a:rPr lang="en-US" dirty="0"/>
              <a:t>) — Basic</a:t>
            </a:r>
          </a:p>
        </p:txBody>
      </p:sp>
    </p:spTree>
    <p:extLst>
      <p:ext uri="{BB962C8B-B14F-4D97-AF65-F5344CB8AC3E}">
        <p14:creationId xmlns:p14="http://schemas.microsoft.com/office/powerpoint/2010/main" val="4121878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52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1401</Words>
  <Application>Microsoft Office PowerPoint</Application>
  <PresentationFormat>Widescreen</PresentationFormat>
  <Paragraphs>252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Infrastructure Architecture Review</dc:title>
  <dc:subject>Infrastructure Architecture</dc:subject>
  <dc:creator>Platform Team</dc:creator>
  <cp:keywords>NExT, Azure, Infrastructure, Architecture</cp:keywords>
  <dc:description>generated using python-pptx</dc:description>
  <cp:lastModifiedBy>Hema Verma</cp:lastModifiedBy>
  <cp:revision>2</cp:revision>
  <dcterms:created xsi:type="dcterms:W3CDTF">2013-01-27T09:14:16Z</dcterms:created>
  <dcterms:modified xsi:type="dcterms:W3CDTF">2026-06-24T21:29:35Z</dcterms:modified>
  <cp:category>Architecture Review</cp:category>
</cp:coreProperties>
</file>